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rgbClr val="FF7A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0.82</c:v>
                </c:pt>
                <c:pt idx="1">
                  <c:v>0.65</c:v>
                </c:pt>
                <c:pt idx="2">
                  <c:v>0.91</c:v>
                </c:pt>
                <c:pt idx="3">
                  <c:v>0.93</c:v>
                </c:pt>
                <c:pt idx="4">
                  <c:v>0.72</c:v>
                </c:pt>
                <c:pt idx="5">
                  <c:v>0.79</c:v>
                </c:pt>
                <c:pt idx="6">
                  <c:v>0.95</c:v>
                </c:pt>
                <c:pt idx="7">
                  <c:v>0.87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A0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B3A"/>
        </a:solidFill>
        <a:ln>
          <a:noFill/>
        </a:ln>
        <a:effectLst/>
      </c:spPr>
    </c:plotArea>
    <c:plotVisOnly val="1"/>
    <c:dispBlanksAs val="span"/>
  </c:chart>
  <c:spPr>
    <a:solidFill>
      <a:srgbClr val="0B1B3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Value J</c:v>
                </c:pt>
              </c:strCache>
            </c:strRef>
          </c:tx>
          <c:spPr>
            <a:solidFill>
              <a:srgbClr val="FF7A45"/>
            </a:solidFill>
            <a:ln w="31750" cap="flat">
              <a:solidFill>
                <a:srgbClr val="FF7A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7A45"/>
              </a:solidFill>
              <a:ln w="9525" cap="flat">
                <a:solidFill>
                  <a:srgbClr val="FF7A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50</c:v>
                  </c:pt>
                  <c:pt idx="2">
                    <c:v>100</c:v>
                  </c:pt>
                  <c:pt idx="3">
                    <c:v>150</c:v>
                  </c:pt>
                  <c:pt idx="4">
                    <c:v>200</c:v>
                  </c:pt>
                  <c:pt idx="5">
                    <c:v>300</c:v>
                  </c:pt>
                  <c:pt idx="6">
                    <c:v>400</c:v>
                  </c:pt>
                  <c:pt idx="7">
                    <c:v>500</c:v>
                  </c:pt>
                  <c:pt idx="8">
                    <c:v>650</c:v>
                  </c:pt>
                  <c:pt idx="9">
                    <c:v>800</c:v>
                  </c:pt>
                  <c:pt idx="10">
                    <c:v>1000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26800</c:v>
                </c:pt>
                <c:pt idx="1">
                  <c:v>25600</c:v>
                </c:pt>
                <c:pt idx="2">
                  <c:v>24900</c:v>
                </c:pt>
                <c:pt idx="3">
                  <c:v>24550</c:v>
                </c:pt>
                <c:pt idx="4">
                  <c:v>24430</c:v>
                </c:pt>
                <c:pt idx="5">
                  <c:v>24410</c:v>
                </c:pt>
                <c:pt idx="6">
                  <c:v>24400</c:v>
                </c:pt>
                <c:pt idx="7">
                  <c:v>24398</c:v>
                </c:pt>
                <c:pt idx="8">
                  <c:v>24397</c:v>
                </c:pt>
                <c:pt idx="9">
                  <c:v>24396.9</c:v>
                </c:pt>
                <c:pt idx="10">
                  <c:v>24396.87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8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B8C"/>
                    </a:solidFill>
                    <a:latin typeface="Arial"/>
                  </a:rPr>
                  <a:t>Iteration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F1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8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B8C"/>
                    </a:solidFill>
                    <a:latin typeface="Arial"/>
                  </a:rPr>
                  <a:t>Objective J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image" Target="../media/image-12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92024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45720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5" name="Shape 3"/>
          <p:cNvSpPr/>
          <p:nvPr/>
        </p:nvSpPr>
        <p:spPr>
          <a:xfrm>
            <a:off x="3017520" y="146304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10896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73152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0" y="54864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0" y="164592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0" y="292608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1" name="Shape 9"/>
          <p:cNvSpPr/>
          <p:nvPr/>
        </p:nvSpPr>
        <p:spPr>
          <a:xfrm>
            <a:off x="9966960" y="82296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0" y="438912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475488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2377440" y="585216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5" name="Shape 13"/>
          <p:cNvSpPr/>
          <p:nvPr/>
        </p:nvSpPr>
        <p:spPr>
          <a:xfrm>
            <a:off x="8961120" y="603504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521440" y="566928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20624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4720" y="539496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9" name="Shape 17"/>
          <p:cNvSpPr/>
          <p:nvPr/>
        </p:nvSpPr>
        <p:spPr>
          <a:xfrm>
            <a:off x="9509760" y="201168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109728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87200" y="356616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ln w="19050">
            <a:solidFill>
              <a:srgbClr val="2240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-365760"/>
            <a:ext cx="3657600" cy="3657600"/>
          </a:xfrm>
          <a:prstGeom prst="ellipse">
            <a:avLst/>
          </a:prstGeom>
          <a:ln w="15875">
            <a:solidFill>
              <a:srgbClr val="2C4F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RESEARCH  ·  METAHEURISTIC OPTIMIZATION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23774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Space Debris Removal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822960" y="33375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Planning Optimized with Simulated Annealing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22960" y="4069080"/>
            <a:ext cx="2011680" cy="0"/>
          </a:xfrm>
          <a:prstGeom prst="line">
            <a:avLst/>
          </a:prstGeom>
          <a:noFill/>
          <a:ln w="31750">
            <a:solidFill>
              <a:srgbClr val="FF7A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25196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debris removal to minimize fuel, time, and cost — while maximizing collision-risk reduction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22960" y="5623560"/>
            <a:ext cx="502920" cy="502920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30" name="Image 0" descr="icons_fuel_4FC3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749290"/>
            <a:ext cx="251460" cy="25146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94360" y="6172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(ΔV)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514600" y="5623560"/>
            <a:ext cx="502920" cy="502920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33" name="Image 1" descr="icons_clock_4FC3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330" y="5749290"/>
            <a:ext cx="251460" cy="25146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2286000" y="6172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Time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4206240" y="5623560"/>
            <a:ext cx="502920" cy="502920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36" name="Image 2" descr="icons_dollar_4FC3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970" y="5749290"/>
            <a:ext cx="251460" cy="25146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3977640" y="6172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5897880" y="5623560"/>
            <a:ext cx="502920" cy="502920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39" name="Image 3" descr="icons_warning_4FC3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610" y="5749290"/>
            <a:ext cx="251460" cy="25146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669280" y="6172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Removed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Orbit is getting crowded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92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Space Debris Removal (ASDR) plans a single-spacecraft mission that visits a set of debris objects in orbit, choosing the sequence and transfers that clear the most collision risk within a limited fuel and time budget.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E8EEF9"/>
          </a:solidFill>
          <a:ln/>
        </p:spPr>
      </p:sp>
      <p:pic>
        <p:nvPicPr>
          <p:cNvPr id="6" name="Image 0" descr="icons_route_0B1B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29832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86207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order to visit debris 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318211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routing decision — every sequence changes total fuel and time.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E8EEF9"/>
          </a:solidFill>
          <a:ln/>
        </p:spPr>
      </p:sp>
      <p:pic>
        <p:nvPicPr>
          <p:cNvPr id="10" name="Image 1" descr="icons_target_0B1B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39433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82219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debris to prioritize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88720" y="414223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Riskier, heavier objects matter more to remove first.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E8EEF9"/>
          </a:solidFill>
          <a:ln/>
        </p:spPr>
      </p:sp>
      <p:pic>
        <p:nvPicPr>
          <p:cNvPr id="14" name="Image 2" descr="icons_cogs_0B1B3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490347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78231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stay within mission limits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88720" y="510235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and duration constraints must never be violated.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406640" y="1600200"/>
            <a:ext cx="4251960" cy="4251960"/>
          </a:xfrm>
          <a:prstGeom prst="roundRect">
            <a:avLst>
              <a:gd name="adj" fmla="val 2581"/>
            </a:avLst>
          </a:prstGeom>
          <a:solidFill>
            <a:srgbClr val="0B1B3A"/>
          </a:solidFill>
          <a:ln/>
        </p:spPr>
      </p:sp>
      <p:sp>
        <p:nvSpPr>
          <p:cNvPr id="18" name="Shape 13"/>
          <p:cNvSpPr/>
          <p:nvPr/>
        </p:nvSpPr>
        <p:spPr>
          <a:xfrm>
            <a:off x="7772400" y="1965960"/>
            <a:ext cx="640080" cy="640080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19" name="Image 3" descr="icons_satellite_4FC3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418" y="2109978"/>
            <a:ext cx="352044" cy="3520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spacecraft.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777240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debris. One shot at an efficient route.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772400" y="3749040"/>
            <a:ext cx="3520440" cy="0"/>
          </a:xfrm>
          <a:prstGeom prst="line">
            <a:avLst/>
          </a:prstGeom>
          <a:noFill/>
          <a:ln w="12700">
            <a:solidFill>
              <a:srgbClr val="24406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772400" y="393192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debris object multiplies the number of possible mission plans — this is what makes ASDR computationally hard.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ASDR  ·  Simulated Annealing Optimization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ASDR is NP-hard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ASDR bundles four hard decisions at once: which debris to select, what order to visit them in, how much fuel to allocate, and how to satisfy mission constraints. With N debris objects, the number of possible visit sequences is N! — exhaustive search becomes impossible almost immediately.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ASDR generalizes several classical NP-hard problems: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938528" cy="38404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4FC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Traveling Salesman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3657600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4FC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365760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Routing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3657600"/>
            <a:ext cx="1389888" cy="38404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4FC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6576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Orienteering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4FC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6052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37360" y="4160520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 w="9525">
            <a:solidFill>
              <a:srgbClr val="4FC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416052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1600200"/>
            <a:ext cx="4800600" cy="4343400"/>
          </a:xfrm>
          <a:prstGeom prst="roundRect">
            <a:avLst>
              <a:gd name="adj" fmla="val 2105"/>
            </a:avLst>
          </a:prstGeom>
          <a:solidFill>
            <a:srgbClr val="F5F7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grow factorially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0" y="2331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3880" y="2368296"/>
            <a:ext cx="320040" cy="292608"/>
          </a:xfrm>
          <a:prstGeom prst="roundRect">
            <a:avLst>
              <a:gd name="adj" fmla="val 15625"/>
            </a:avLst>
          </a:prstGeom>
          <a:solidFill>
            <a:srgbClr val="4F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32320" y="317296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83880" y="3209544"/>
            <a:ext cx="716708" cy="292608"/>
          </a:xfrm>
          <a:prstGeom prst="roundRect">
            <a:avLst>
              <a:gd name="adj" fmla="val 15625"/>
            </a:avLst>
          </a:prstGeom>
          <a:solidFill>
            <a:srgbClr val="4F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8992028" y="3172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40,320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32320" y="401421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83880" y="4050792"/>
            <a:ext cx="1023549" cy="292608"/>
          </a:xfrm>
          <a:prstGeom prst="roundRect">
            <a:avLst>
              <a:gd name="adj" fmla="val 15625"/>
            </a:avLst>
          </a:prstGeom>
          <a:solidFill>
            <a:srgbClr val="4F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9298869" y="401421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3,628,800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32320" y="485546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83880" y="4892040"/>
            <a:ext cx="2880360" cy="292608"/>
          </a:xfrm>
          <a:prstGeom prst="roundRect">
            <a:avLst>
              <a:gd name="adj" fmla="val 15625"/>
            </a:avLst>
          </a:prstGeom>
          <a:solidFill>
            <a:srgbClr val="FF7A45"/>
          </a:solidFill>
          <a:ln/>
        </p:spPr>
      </p:sp>
      <p:sp>
        <p:nvSpPr>
          <p:cNvPr id="29" name="Text 27"/>
          <p:cNvSpPr/>
          <p:nvPr/>
        </p:nvSpPr>
        <p:spPr>
          <a:xfrm>
            <a:off x="11155680" y="48554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2.43 × 10¹⁸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32320" y="57881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 shown on a log scale — the actual gap between N=10 and N=20 is many trillion-fold.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53949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Debris Objects (N)  →  Possible Visit Sequences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ASDR  ·  Simulated Annealing Optimization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Variables &amp;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determines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B3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38658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of debris removal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9900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B3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30449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debris object to visit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6484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B3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7033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transfer between debris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3068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B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36168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fuel (ΔV) allocation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965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B3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65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502005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schedule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1691640"/>
            <a:ext cx="5669280" cy="4206240"/>
          </a:xfrm>
          <a:prstGeom prst="roundRect">
            <a:avLst>
              <a:gd name="adj" fmla="val 2609"/>
            </a:avLst>
          </a:prstGeom>
          <a:solidFill>
            <a:srgbClr val="0B1B3A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Objective (minimize)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09360" y="23774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w</a:t>
            </a:r>
            <a:pPr indent="0" marL="0">
              <a:lnSpc>
                <a:spcPct val="110000"/>
              </a:lnSpc>
              <a:buNone/>
            </a:pPr>
            <a:r>
              <a:rPr lang="en-US" sz="13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(ΔV)  +  w</a:t>
            </a:r>
            <a:pPr indent="0" marL="0">
              <a:lnSpc>
                <a:spcPct val="110000"/>
              </a:lnSpc>
              <a:buNone/>
            </a:pPr>
            <a:r>
              <a:rPr lang="en-US" sz="13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(Time)  +  w</a:t>
            </a:r>
            <a:pPr indent="0" marL="0">
              <a:lnSpc>
                <a:spcPct val="110000"/>
              </a:lnSpc>
              <a:buNone/>
            </a:pPr>
            <a:r>
              <a:rPr lang="en-US" sz="13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(Cost)  −  w</a:t>
            </a:r>
            <a:pPr indent="0" marL="0">
              <a:lnSpc>
                <a:spcPct val="110000"/>
              </a:lnSpc>
              <a:buNone/>
            </a:pPr>
            <a:r>
              <a:rPr lang="en-US" sz="13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(Risk Removed)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309360" y="3520440"/>
            <a:ext cx="5029200" cy="0"/>
          </a:xfrm>
          <a:prstGeom prst="line">
            <a:avLst/>
          </a:prstGeom>
          <a:noFill/>
          <a:ln w="12700">
            <a:solidFill>
              <a:srgbClr val="244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703320"/>
            <a:ext cx="365760" cy="365760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26" name="Image 0" descr="icons_fuel_4FC3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56" y="3785616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812280" y="3721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 — total fuel consumption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309360" y="4187952"/>
            <a:ext cx="365760" cy="365760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29" name="Image 1" descr="icons_clock_4FC3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4270248"/>
            <a:ext cx="201168" cy="20116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81228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— total transfer duration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309360" y="4672584"/>
            <a:ext cx="365760" cy="365760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32" name="Image 2" descr="icons_dollar_4FC3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4754880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812280" y="46908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mission time × hourly rate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309360" y="5157216"/>
            <a:ext cx="365760" cy="365760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35" name="Image 3" descr="icons_warning_4FC3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5239512"/>
            <a:ext cx="201168" cy="20116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812280" y="51755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Removed — sum of debris risk scores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6309360" y="5623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penalty is added whenever the fuel constraint is violated.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ASDR  ·  Simulated Annealing Optimization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every valid mission must satisfy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0B1B3A"/>
          </a:solidFill>
          <a:ln/>
        </p:spPr>
      </p:sp>
      <p:pic>
        <p:nvPicPr>
          <p:cNvPr id="6" name="Image 0" descr="icons_fuel_4FC3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20791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Capacity Limit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ΔV across the whole route must not exceed the mission fuel budget.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965960"/>
            <a:ext cx="502920" cy="502920"/>
          </a:xfrm>
          <a:prstGeom prst="ellipse">
            <a:avLst/>
          </a:prstGeom>
          <a:solidFill>
            <a:srgbClr val="0B1B3A"/>
          </a:solidFill>
          <a:ln/>
        </p:spPr>
      </p:sp>
      <p:pic>
        <p:nvPicPr>
          <p:cNvPr id="11" name="Image 1" descr="icons_clock_4FC3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157" y="207911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06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Duration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0" y="29260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transfer time is bounded by the planned mission window.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1965960"/>
            <a:ext cx="502920" cy="502920"/>
          </a:xfrm>
          <a:prstGeom prst="ellipse">
            <a:avLst/>
          </a:prstGeom>
          <a:solidFill>
            <a:srgbClr val="0B1B3A"/>
          </a:solidFill>
          <a:ln/>
        </p:spPr>
      </p:sp>
      <p:pic>
        <p:nvPicPr>
          <p:cNvPr id="16" name="Image 2" descr="icons_check_4FC3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917" y="207911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606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Visit per Object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66760" y="29260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debris object is removed exactly once — no repeats, none skipped twice.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0B1B3A"/>
          </a:solidFill>
          <a:ln/>
        </p:spPr>
      </p:sp>
      <p:pic>
        <p:nvPicPr>
          <p:cNvPr id="21" name="Image 3" descr="icons_route_4FC3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422795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754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Orbital Transfers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50749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physically reachable transfers between orbital states are allowed.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886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4114800"/>
            <a:ext cx="502920" cy="502920"/>
          </a:xfrm>
          <a:prstGeom prst="ellipse">
            <a:avLst/>
          </a:prstGeom>
          <a:solidFill>
            <a:srgbClr val="0B1B3A"/>
          </a:solidFill>
          <a:ln/>
        </p:spPr>
      </p:sp>
      <p:pic>
        <p:nvPicPr>
          <p:cNvPr id="26" name="Image 4" descr="icons_satellite_4FC3E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157" y="422795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754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Spacecraft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0" y="50749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vehicle executes the entire removal sequence, in order.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886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66760" y="4114800"/>
            <a:ext cx="502920" cy="502920"/>
          </a:xfrm>
          <a:prstGeom prst="ellipse">
            <a:avLst/>
          </a:prstGeom>
          <a:solidFill>
            <a:srgbClr val="0B1B3A"/>
          </a:solidFill>
          <a:ln/>
        </p:spPr>
      </p:sp>
      <p:pic>
        <p:nvPicPr>
          <p:cNvPr id="31" name="Image 5" descr="icons_layers_4FC3E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9917" y="4227957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754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Removal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66760" y="50749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debris object cannot be counted or removed more than once.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5989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functions discourage the optimizer from wandering into infeasible solutions.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ASDR  ·  Simulated Annealing Optimization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Estimating fuel &amp; time between debris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E8EEF9"/>
          </a:solidFill>
          <a:ln/>
        </p:spPr>
      </p:sp>
      <p:pic>
        <p:nvPicPr>
          <p:cNvPr id="6" name="Image 0" descr="icons_fuel_0B1B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20791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11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ΔV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265176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0B1B3A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6517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ΔV</a:t>
            </a:r>
            <a:pPr algn="ctr" indent="0" marL="0">
              <a:buNone/>
            </a:pPr>
            <a:r>
              <a:rPr lang="en-US" sz="11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0.4 · |Alt</a:t>
            </a:r>
            <a:pPr algn="ctr" indent="0" marL="0">
              <a:buNone/>
            </a:pPr>
            <a:r>
              <a:rPr lang="en-US" sz="10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Alt</a:t>
            </a:r>
            <a:pPr algn="ctr" indent="0" marL="0">
              <a:buNone/>
            </a:pPr>
            <a:r>
              <a:rPr lang="en-US" sz="10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  +  25 · |Inc</a:t>
            </a:r>
            <a:pPr algn="ctr" indent="0" marL="0">
              <a:buNone/>
            </a:pPr>
            <a:r>
              <a:rPr lang="en-US" sz="10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Inc</a:t>
            </a:r>
            <a:pPr algn="ctr" indent="0" marL="0">
              <a:buNone/>
            </a:pPr>
            <a:r>
              <a:rPr lang="en-US" sz="10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79476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km/km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on altitude change, plus a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m/s per degree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on inclination change — inclination shifts dominate real ΔV budgets, and the model reflects that.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4892040"/>
            <a:ext cx="480060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029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limit:  </a:t>
            </a:r>
            <a:pPr indent="0" marL="0">
              <a:buNone/>
            </a:pPr>
            <a:r>
              <a:rPr lang="en-US" sz="135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ΔV ≤ 450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26480" y="1737360"/>
            <a:ext cx="55321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E8EEF9"/>
          </a:solidFill>
          <a:ln/>
        </p:spPr>
      </p:sp>
      <p:pic>
        <p:nvPicPr>
          <p:cNvPr id="15" name="Image 1" descr="icons_clock_0B1B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957" y="2079117"/>
            <a:ext cx="276606" cy="27660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40880" y="2011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Time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400800" y="265176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0B1B3A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0" y="265176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</a:t>
            </a:r>
            <a:pPr algn="ctr" indent="0" marL="0">
              <a:buNone/>
            </a:pPr>
            <a:r>
              <a:rPr lang="en-US" sz="11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|Alt</a:t>
            </a:r>
            <a:pPr algn="ctr" indent="0" marL="0">
              <a:buNone/>
            </a:pPr>
            <a:r>
              <a:rPr lang="en-US" sz="10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−Alt</a:t>
            </a:r>
            <a:pPr algn="ctr" indent="0" marL="0">
              <a:buNone/>
            </a:pPr>
            <a:r>
              <a:rPr lang="en-US" sz="10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 / 25  +  4·|Inc</a:t>
            </a:r>
            <a:pPr algn="ctr" indent="0" marL="0">
              <a:buNone/>
            </a:pPr>
            <a:r>
              <a:rPr lang="en-US" sz="10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−Inc</a:t>
            </a:r>
            <a:pPr algn="ctr" indent="0" marL="0">
              <a:buNone/>
            </a:pPr>
            <a:r>
              <a:rPr lang="en-US" sz="10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400800" y="379476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≈25 km of altitude change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about one hour;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degree of inclination change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four hours — plane changes are the slow, expensive part of any transfer.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00800" y="4892040"/>
            <a:ext cx="498348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00800" y="50292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  =  Time × </a:t>
            </a:r>
            <a:pPr indent="0" marL="0">
              <a:buNone/>
            </a:pPr>
            <a:r>
              <a:rPr lang="en-US" sz="135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$5,000/hr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ASDR  ·  Simulated Annealing Optimization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Core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Penalty &amp; Acceptance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16294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1E3660"/>
          </a:solidFill>
          <a:ln/>
        </p:spPr>
      </p:sp>
      <p:pic>
        <p:nvPicPr>
          <p:cNvPr id="6" name="Image 0" descr="icons_warning_4FC3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23077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Constraint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342900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0B1B3A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4290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ΔV ≤ Fuel_limit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43484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route exceeding this is infeasible.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06240" y="192024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16294F"/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2194560"/>
            <a:ext cx="502920" cy="502920"/>
          </a:xfrm>
          <a:prstGeom prst="ellipse">
            <a:avLst/>
          </a:prstGeom>
          <a:solidFill>
            <a:srgbClr val="1E3660"/>
          </a:solidFill>
          <a:ln/>
        </p:spPr>
      </p:sp>
      <p:pic>
        <p:nvPicPr>
          <p:cNvPr id="13" name="Image 1" descr="icons_cogs_4FC3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717" y="230771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28346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Penalty Function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480560" y="342900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0B1B3A"/>
          </a:solidFill>
          <a:ln/>
        </p:spPr>
      </p:sp>
      <p:sp>
        <p:nvSpPr>
          <p:cNvPr id="16" name="Text 12"/>
          <p:cNvSpPr/>
          <p:nvPr/>
        </p:nvSpPr>
        <p:spPr>
          <a:xfrm>
            <a:off x="4480560" y="34290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Penalty = 100,000 if infeasible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80560" y="443484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fixed penalty is added to J whenever the fuel limit is broken — steering the search back toward feasible routes without forbidding exploration.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863840" y="192024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16294F"/>
          </a:solidFill>
          <a:ln/>
        </p:spPr>
      </p:sp>
      <p:sp>
        <p:nvSpPr>
          <p:cNvPr id="19" name="Shape 15"/>
          <p:cNvSpPr/>
          <p:nvPr/>
        </p:nvSpPr>
        <p:spPr>
          <a:xfrm>
            <a:off x="8138160" y="2194560"/>
            <a:ext cx="502920" cy="502920"/>
          </a:xfrm>
          <a:prstGeom prst="ellipse">
            <a:avLst/>
          </a:prstGeom>
          <a:solidFill>
            <a:srgbClr val="1E3660"/>
          </a:solidFill>
          <a:ln/>
        </p:spPr>
      </p:sp>
      <p:pic>
        <p:nvPicPr>
          <p:cNvPr id="20" name="Image 2" descr="icons_random_4FC3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317" y="2307717"/>
            <a:ext cx="276606" cy="27660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38160" y="28346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Metropolis Acceptance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138160" y="342900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0B1B3A"/>
          </a:solidFill>
          <a:ln/>
        </p:spPr>
      </p:sp>
      <p:sp>
        <p:nvSpPr>
          <p:cNvPr id="23" name="Text 18"/>
          <p:cNvSpPr/>
          <p:nvPr/>
        </p:nvSpPr>
        <p:spPr>
          <a:xfrm>
            <a:off x="8138160" y="34290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e^(−Δ / T)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138160" y="443484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solutions (Δ &gt; 0) are still accepted with probability P — this is how Simulated Annealing escapes local optima.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ASDR  ·  Simulated Annealing Optimization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Simulated Annealing searches for a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91640" cy="2377440"/>
          </a:xfrm>
          <a:prstGeom prst="roundRect">
            <a:avLst>
              <a:gd name="adj" fmla="val 5405"/>
            </a:avLst>
          </a:prstGeom>
          <a:solidFill>
            <a:srgbClr val="F5F7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3292" y="1901952"/>
            <a:ext cx="402336" cy="402336"/>
          </a:xfrm>
          <a:prstGeom prst="ellipse">
            <a:avLst/>
          </a:prstGeom>
          <a:solidFill>
            <a:srgbClr val="0B1B3A"/>
          </a:solidFill>
          <a:ln/>
        </p:spPr>
      </p:sp>
      <p:sp>
        <p:nvSpPr>
          <p:cNvPr id="6" name="Text 4"/>
          <p:cNvSpPr/>
          <p:nvPr/>
        </p:nvSpPr>
        <p:spPr>
          <a:xfrm>
            <a:off x="1193292" y="1901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38428" y="2377440"/>
            <a:ext cx="512064" cy="512064"/>
          </a:xfrm>
          <a:prstGeom prst="ellipse">
            <a:avLst/>
          </a:prstGeom>
          <a:solidFill>
            <a:srgbClr val="0B1B3A"/>
          </a:solidFill>
          <a:ln/>
        </p:spPr>
      </p:sp>
      <p:pic>
        <p:nvPicPr>
          <p:cNvPr id="8" name="Image 0" descr="icons_random_4FC3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3642" y="2492654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0632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Initial Sequence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36118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randomly ordered mission plan.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240280" y="2788920"/>
            <a:ext cx="150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372868" y="2103120"/>
            <a:ext cx="1691640" cy="2377440"/>
          </a:xfrm>
          <a:prstGeom prst="roundRect">
            <a:avLst>
              <a:gd name="adj" fmla="val 5405"/>
            </a:avLst>
          </a:prstGeom>
          <a:solidFill>
            <a:srgbClr val="E8EEF9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17520" y="1901952"/>
            <a:ext cx="402336" cy="402336"/>
          </a:xfrm>
          <a:prstGeom prst="ellipse">
            <a:avLst/>
          </a:prstGeom>
          <a:solidFill>
            <a:srgbClr val="0B1B3A"/>
          </a:solidFill>
          <a:ln/>
        </p:spPr>
      </p:sp>
      <p:sp>
        <p:nvSpPr>
          <p:cNvPr id="14" name="Text 11"/>
          <p:cNvSpPr/>
          <p:nvPr/>
        </p:nvSpPr>
        <p:spPr>
          <a:xfrm>
            <a:off x="3017520" y="1901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962656" y="2377440"/>
            <a:ext cx="512064" cy="512064"/>
          </a:xfrm>
          <a:prstGeom prst="ellipse">
            <a:avLst/>
          </a:prstGeom>
          <a:solidFill>
            <a:srgbClr val="0B1B3A"/>
          </a:solidFill>
          <a:ln/>
        </p:spPr>
      </p:sp>
      <p:pic>
        <p:nvPicPr>
          <p:cNvPr id="16" name="Image 1" descr="icons_route_4FC3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870" y="2492654"/>
            <a:ext cx="281635" cy="28163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64308" y="30632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Neighbor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464308" y="36118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Swap, reverse, or insert debris within the sequence.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064508" y="2788920"/>
            <a:ext cx="150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4197096" y="2103120"/>
            <a:ext cx="1691640" cy="2377440"/>
          </a:xfrm>
          <a:prstGeom prst="roundRect">
            <a:avLst>
              <a:gd name="adj" fmla="val 5405"/>
            </a:avLst>
          </a:prstGeom>
          <a:solidFill>
            <a:srgbClr val="F5F7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41748" y="1901952"/>
            <a:ext cx="402336" cy="402336"/>
          </a:xfrm>
          <a:prstGeom prst="ellipse">
            <a:avLst/>
          </a:prstGeom>
          <a:solidFill>
            <a:srgbClr val="0B1B3A"/>
          </a:solidFill>
          <a:ln/>
        </p:spPr>
      </p:sp>
      <p:sp>
        <p:nvSpPr>
          <p:cNvPr id="22" name="Text 18"/>
          <p:cNvSpPr/>
          <p:nvPr/>
        </p:nvSpPr>
        <p:spPr>
          <a:xfrm>
            <a:off x="4841748" y="1901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786884" y="2377440"/>
            <a:ext cx="512064" cy="512064"/>
          </a:xfrm>
          <a:prstGeom prst="ellipse">
            <a:avLst/>
          </a:prstGeom>
          <a:solidFill>
            <a:srgbClr val="0B1B3A"/>
          </a:solidFill>
          <a:ln/>
        </p:spPr>
      </p:sp>
      <p:pic>
        <p:nvPicPr>
          <p:cNvPr id="24" name="Image 2" descr="icons_chart_4FC3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098" y="2492654"/>
            <a:ext cx="281635" cy="28163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288536" y="30632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Objective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288536" y="36118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new sequence using J (ΔV, time, cost, risk).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5888736" y="2788920"/>
            <a:ext cx="150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6021324" y="2103120"/>
            <a:ext cx="1691640" cy="2377440"/>
          </a:xfrm>
          <a:prstGeom prst="roundRect">
            <a:avLst>
              <a:gd name="adj" fmla="val 5405"/>
            </a:avLst>
          </a:prstGeom>
          <a:solidFill>
            <a:srgbClr val="E8EEF9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665976" y="1901952"/>
            <a:ext cx="402336" cy="402336"/>
          </a:xfrm>
          <a:prstGeom prst="ellipse">
            <a:avLst/>
          </a:prstGeom>
          <a:solidFill>
            <a:srgbClr val="0B1B3A"/>
          </a:solidFill>
          <a:ln/>
        </p:spPr>
      </p:sp>
      <p:sp>
        <p:nvSpPr>
          <p:cNvPr id="30" name="Text 25"/>
          <p:cNvSpPr/>
          <p:nvPr/>
        </p:nvSpPr>
        <p:spPr>
          <a:xfrm>
            <a:off x="6665976" y="1901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6611112" y="2377440"/>
            <a:ext cx="512064" cy="512064"/>
          </a:xfrm>
          <a:prstGeom prst="ellipse">
            <a:avLst/>
          </a:prstGeom>
          <a:solidFill>
            <a:srgbClr val="0B1B3A"/>
          </a:solidFill>
          <a:ln/>
        </p:spPr>
      </p:sp>
      <p:pic>
        <p:nvPicPr>
          <p:cNvPr id="32" name="Image 3" descr="icons_thermo_4FC3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2492654"/>
            <a:ext cx="281635" cy="28163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112764" y="30632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Metropolis Acceptance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112764" y="36118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improvements always; accept worse moves with probability e^(−Δ/T).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7712964" y="2788920"/>
            <a:ext cx="150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6" name="Shape 30"/>
          <p:cNvSpPr/>
          <p:nvPr/>
        </p:nvSpPr>
        <p:spPr>
          <a:xfrm>
            <a:off x="7845552" y="2103120"/>
            <a:ext cx="1691640" cy="2377440"/>
          </a:xfrm>
          <a:prstGeom prst="roundRect">
            <a:avLst>
              <a:gd name="adj" fmla="val 5405"/>
            </a:avLst>
          </a:prstGeom>
          <a:solidFill>
            <a:srgbClr val="F5F7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490204" y="1901952"/>
            <a:ext cx="402336" cy="402336"/>
          </a:xfrm>
          <a:prstGeom prst="ellipse">
            <a:avLst/>
          </a:prstGeom>
          <a:solidFill>
            <a:srgbClr val="0B1B3A"/>
          </a:solidFill>
          <a:ln/>
        </p:spPr>
      </p:sp>
      <p:sp>
        <p:nvSpPr>
          <p:cNvPr id="38" name="Text 32"/>
          <p:cNvSpPr/>
          <p:nvPr/>
        </p:nvSpPr>
        <p:spPr>
          <a:xfrm>
            <a:off x="8490204" y="1901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8435340" y="2377440"/>
            <a:ext cx="512064" cy="512064"/>
          </a:xfrm>
          <a:prstGeom prst="ellipse">
            <a:avLst/>
          </a:prstGeom>
          <a:solidFill>
            <a:srgbClr val="0B1B3A"/>
          </a:solidFill>
          <a:ln/>
        </p:spPr>
      </p:sp>
      <p:pic>
        <p:nvPicPr>
          <p:cNvPr id="40" name="Image 4" descr="icons_snow_4FC3E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0554" y="2492654"/>
            <a:ext cx="281635" cy="281635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936992" y="30632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the Temperature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7936992" y="36118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 geometrically: T_new = 0.995 × T_old.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9537192" y="2788920"/>
            <a:ext cx="150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4" name="Shape 37"/>
          <p:cNvSpPr/>
          <p:nvPr/>
        </p:nvSpPr>
        <p:spPr>
          <a:xfrm>
            <a:off x="9669780" y="2103120"/>
            <a:ext cx="1691640" cy="2377440"/>
          </a:xfrm>
          <a:prstGeom prst="roundRect">
            <a:avLst>
              <a:gd name="adj" fmla="val 5405"/>
            </a:avLst>
          </a:prstGeom>
          <a:solidFill>
            <a:srgbClr val="E8EEF9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10314432" y="1901952"/>
            <a:ext cx="402336" cy="402336"/>
          </a:xfrm>
          <a:prstGeom prst="ellipse">
            <a:avLst/>
          </a:prstGeom>
          <a:solidFill>
            <a:srgbClr val="0B1B3A"/>
          </a:solidFill>
          <a:ln/>
        </p:spPr>
      </p:sp>
      <p:sp>
        <p:nvSpPr>
          <p:cNvPr id="46" name="Text 39"/>
          <p:cNvSpPr/>
          <p:nvPr/>
        </p:nvSpPr>
        <p:spPr>
          <a:xfrm>
            <a:off x="10314432" y="1901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7" name="Shape 40"/>
          <p:cNvSpPr/>
          <p:nvPr/>
        </p:nvSpPr>
        <p:spPr>
          <a:xfrm>
            <a:off x="10259568" y="2377440"/>
            <a:ext cx="512064" cy="512064"/>
          </a:xfrm>
          <a:prstGeom prst="ellipse">
            <a:avLst/>
          </a:prstGeom>
          <a:solidFill>
            <a:srgbClr val="0B1B3A"/>
          </a:solidFill>
          <a:ln/>
        </p:spPr>
      </p:sp>
      <p:pic>
        <p:nvPicPr>
          <p:cNvPr id="48" name="Image 5" descr="icons_check_4FC3E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4782" y="2492654"/>
            <a:ext cx="281635" cy="281635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9761220" y="30632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Best Solution</a:t>
            </a:r>
            <a:endParaRPr lang="en-US" sz="1150" dirty="0"/>
          </a:p>
        </p:txBody>
      </p:sp>
      <p:sp>
        <p:nvSpPr>
          <p:cNvPr id="50" name="Text 42"/>
          <p:cNvSpPr/>
          <p:nvPr/>
        </p:nvSpPr>
        <p:spPr>
          <a:xfrm>
            <a:off x="9761220" y="36118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 falls below the minimum threshold.</a:t>
            </a:r>
            <a:endParaRPr lang="en-US" sz="950" dirty="0"/>
          </a:p>
        </p:txBody>
      </p:sp>
      <p:sp>
        <p:nvSpPr>
          <p:cNvPr id="51" name="Shape 43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B1B3A"/>
          </a:solidFill>
          <a:ln/>
        </p:spPr>
      </p:sp>
      <p:sp>
        <p:nvSpPr>
          <p:cNvPr id="52" name="Text 44"/>
          <p:cNvSpPr/>
          <p:nvPr/>
        </p:nvSpPr>
        <p:spPr>
          <a:xfrm>
            <a:off x="914400" y="5029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2400" dirty="0"/>
          </a:p>
        </p:txBody>
      </p:sp>
      <p:sp>
        <p:nvSpPr>
          <p:cNvPr id="53" name="Text 45"/>
          <p:cNvSpPr/>
          <p:nvPr/>
        </p:nvSpPr>
        <p:spPr>
          <a:xfrm>
            <a:off x="914400" y="5532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Temperature</a:t>
            </a:r>
            <a:endParaRPr lang="en-US" sz="1050" dirty="0"/>
          </a:p>
        </p:txBody>
      </p:sp>
      <p:sp>
        <p:nvSpPr>
          <p:cNvPr id="54" name="Text 46"/>
          <p:cNvSpPr/>
          <p:nvPr/>
        </p:nvSpPr>
        <p:spPr>
          <a:xfrm>
            <a:off x="4572000" y="5029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0.995</a:t>
            </a:r>
            <a:endParaRPr lang="en-US" sz="2400" dirty="0"/>
          </a:p>
        </p:txBody>
      </p:sp>
      <p:sp>
        <p:nvSpPr>
          <p:cNvPr id="55" name="Text 47"/>
          <p:cNvSpPr/>
          <p:nvPr/>
        </p:nvSpPr>
        <p:spPr>
          <a:xfrm>
            <a:off x="4572000" y="5532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Rate (α)</a:t>
            </a:r>
            <a:endParaRPr lang="en-US" sz="1050" dirty="0"/>
          </a:p>
        </p:txBody>
      </p:sp>
      <p:sp>
        <p:nvSpPr>
          <p:cNvPr id="56" name="Text 48"/>
          <p:cNvSpPr/>
          <p:nvPr/>
        </p:nvSpPr>
        <p:spPr>
          <a:xfrm>
            <a:off x="8229600" y="5029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C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</a:t>
            </a:r>
            <a:endParaRPr lang="en-US" sz="2400" dirty="0"/>
          </a:p>
        </p:txBody>
      </p:sp>
      <p:sp>
        <p:nvSpPr>
          <p:cNvPr id="57" name="Text 49"/>
          <p:cNvSpPr/>
          <p:nvPr/>
        </p:nvSpPr>
        <p:spPr>
          <a:xfrm>
            <a:off x="8229600" y="5532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Temperature</a:t>
            </a:r>
            <a:endParaRPr lang="en-US" sz="1050" dirty="0"/>
          </a:p>
        </p:txBody>
      </p:sp>
      <p:sp>
        <p:nvSpPr>
          <p:cNvPr id="58" name="Text 5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ASDR  ·  Simulated Annealing Optimization</a:t>
            </a:r>
            <a:endParaRPr lang="en-US" sz="900" dirty="0"/>
          </a:p>
        </p:txBody>
      </p:sp>
      <p:sp>
        <p:nvSpPr>
          <p:cNvPr id="59" name="Text 5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debris field — 8 objects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949440" cy="356616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554480"/>
                <a:gridCol w="1371600"/>
                <a:gridCol w="1280160"/>
              </a:tblGrid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Debris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 (km)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Inclination (°)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(kg)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864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objects (highlighted) drive most of the removed-risk value in the objective function.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818120" y="1737360"/>
            <a:ext cx="3840480" cy="4206240"/>
          </a:xfrm>
          <a:prstGeom prst="roundRect">
            <a:avLst>
              <a:gd name="adj" fmla="val 2857"/>
            </a:avLst>
          </a:prstGeom>
          <a:solidFill>
            <a:srgbClr val="0B1B3A"/>
          </a:solidFill>
          <a:ln/>
        </p:spPr>
      </p:sp>
      <p:sp>
        <p:nvSpPr>
          <p:cNvPr id="7" name="Text 4"/>
          <p:cNvSpPr/>
          <p:nvPr/>
        </p:nvSpPr>
        <p:spPr>
          <a:xfrm>
            <a:off x="809244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by Object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955280" y="2286000"/>
          <a:ext cx="35661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ASDR  ·  Simulated Annealing Optimization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Optimized removal sequence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2056" y="1965960"/>
            <a:ext cx="1170432" cy="777240"/>
          </a:xfrm>
          <a:prstGeom prst="roundRect">
            <a:avLst>
              <a:gd name="adj" fmla="val 11765"/>
            </a:avLst>
          </a:prstGeom>
          <a:solidFill>
            <a:srgbClr val="FF7A45"/>
          </a:solidFill>
          <a:ln/>
        </p:spPr>
      </p:sp>
      <p:sp>
        <p:nvSpPr>
          <p:cNvPr id="5" name="Text 3"/>
          <p:cNvSpPr/>
          <p:nvPr/>
        </p:nvSpPr>
        <p:spPr>
          <a:xfrm>
            <a:off x="902056" y="196596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72488" y="1965960"/>
            <a:ext cx="146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18792" y="1965960"/>
            <a:ext cx="1170432" cy="777240"/>
          </a:xfrm>
          <a:prstGeom prst="roundRect">
            <a:avLst>
              <a:gd name="adj" fmla="val 11765"/>
            </a:avLst>
          </a:prstGeom>
          <a:solidFill>
            <a:srgbClr val="16294F"/>
          </a:solidFill>
          <a:ln/>
        </p:spPr>
      </p:sp>
      <p:sp>
        <p:nvSpPr>
          <p:cNvPr id="8" name="Text 6"/>
          <p:cNvSpPr/>
          <p:nvPr/>
        </p:nvSpPr>
        <p:spPr>
          <a:xfrm>
            <a:off x="2218792" y="196596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89224" y="1965960"/>
            <a:ext cx="146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35528" y="1965960"/>
            <a:ext cx="1170432" cy="777240"/>
          </a:xfrm>
          <a:prstGeom prst="roundRect">
            <a:avLst>
              <a:gd name="adj" fmla="val 11765"/>
            </a:avLst>
          </a:prstGeom>
          <a:solidFill>
            <a:srgbClr val="16294F"/>
          </a:solidFill>
          <a:ln/>
        </p:spPr>
      </p:sp>
      <p:sp>
        <p:nvSpPr>
          <p:cNvPr id="11" name="Text 9"/>
          <p:cNvSpPr/>
          <p:nvPr/>
        </p:nvSpPr>
        <p:spPr>
          <a:xfrm>
            <a:off x="3535528" y="196596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5960" y="1965960"/>
            <a:ext cx="146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52264" y="1965960"/>
            <a:ext cx="1170432" cy="777240"/>
          </a:xfrm>
          <a:prstGeom prst="roundRect">
            <a:avLst>
              <a:gd name="adj" fmla="val 11765"/>
            </a:avLst>
          </a:prstGeom>
          <a:solidFill>
            <a:srgbClr val="16294F"/>
          </a:solidFill>
          <a:ln/>
        </p:spPr>
      </p:sp>
      <p:sp>
        <p:nvSpPr>
          <p:cNvPr id="14" name="Text 12"/>
          <p:cNvSpPr/>
          <p:nvPr/>
        </p:nvSpPr>
        <p:spPr>
          <a:xfrm>
            <a:off x="4852264" y="196596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22696" y="1965960"/>
            <a:ext cx="146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69000" y="1965960"/>
            <a:ext cx="1170432" cy="777240"/>
          </a:xfrm>
          <a:prstGeom prst="roundRect">
            <a:avLst>
              <a:gd name="adj" fmla="val 11765"/>
            </a:avLst>
          </a:prstGeom>
          <a:solidFill>
            <a:srgbClr val="16294F"/>
          </a:solidFill>
          <a:ln/>
        </p:spPr>
      </p:sp>
      <p:sp>
        <p:nvSpPr>
          <p:cNvPr id="17" name="Text 15"/>
          <p:cNvSpPr/>
          <p:nvPr/>
        </p:nvSpPr>
        <p:spPr>
          <a:xfrm>
            <a:off x="6169000" y="196596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39432" y="1965960"/>
            <a:ext cx="146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85736" y="1965960"/>
            <a:ext cx="1170432" cy="777240"/>
          </a:xfrm>
          <a:prstGeom prst="roundRect">
            <a:avLst>
              <a:gd name="adj" fmla="val 11765"/>
            </a:avLst>
          </a:prstGeom>
          <a:solidFill>
            <a:srgbClr val="16294F"/>
          </a:solidFill>
          <a:ln/>
        </p:spPr>
      </p:sp>
      <p:sp>
        <p:nvSpPr>
          <p:cNvPr id="20" name="Text 18"/>
          <p:cNvSpPr/>
          <p:nvPr/>
        </p:nvSpPr>
        <p:spPr>
          <a:xfrm>
            <a:off x="7485736" y="196596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D7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56168" y="1965960"/>
            <a:ext cx="146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02472" y="1965960"/>
            <a:ext cx="1170432" cy="777240"/>
          </a:xfrm>
          <a:prstGeom prst="roundRect">
            <a:avLst>
              <a:gd name="adj" fmla="val 11765"/>
            </a:avLst>
          </a:prstGeom>
          <a:solidFill>
            <a:srgbClr val="16294F"/>
          </a:solidFill>
          <a:ln/>
        </p:spPr>
      </p:sp>
      <p:sp>
        <p:nvSpPr>
          <p:cNvPr id="23" name="Text 21"/>
          <p:cNvSpPr/>
          <p:nvPr/>
        </p:nvSpPr>
        <p:spPr>
          <a:xfrm>
            <a:off x="8802472" y="196596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72904" y="1965960"/>
            <a:ext cx="146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19208" y="1965960"/>
            <a:ext cx="1170432" cy="777240"/>
          </a:xfrm>
          <a:prstGeom prst="roundRect">
            <a:avLst>
              <a:gd name="adj" fmla="val 11765"/>
            </a:avLst>
          </a:prstGeom>
          <a:solidFill>
            <a:srgbClr val="FF7A45"/>
          </a:solidFill>
          <a:ln/>
        </p:spPr>
      </p:sp>
      <p:sp>
        <p:nvSpPr>
          <p:cNvPr id="26" name="Text 24"/>
          <p:cNvSpPr/>
          <p:nvPr/>
        </p:nvSpPr>
        <p:spPr>
          <a:xfrm>
            <a:off x="10119208" y="1965960"/>
            <a:ext cx="1170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0" y="2926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objective score:  J = 24,396.87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4896" y="347472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16294F"/>
          </a:solidFill>
          <a:ln/>
        </p:spPr>
      </p:sp>
      <p:sp>
        <p:nvSpPr>
          <p:cNvPr id="29" name="Shape 27"/>
          <p:cNvSpPr/>
          <p:nvPr/>
        </p:nvSpPr>
        <p:spPr>
          <a:xfrm>
            <a:off x="1766164" y="3675888"/>
            <a:ext cx="512064" cy="512064"/>
          </a:xfrm>
          <a:prstGeom prst="ellipse">
            <a:avLst/>
          </a:prstGeom>
          <a:solidFill>
            <a:srgbClr val="0B1B3A"/>
          </a:solidFill>
          <a:ln/>
        </p:spPr>
      </p:sp>
      <p:pic>
        <p:nvPicPr>
          <p:cNvPr id="30" name="Image 0" descr="icons_fuel_4FC3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1378" y="3791102"/>
            <a:ext cx="281635" cy="281635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64896" y="4343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381.40 m/s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764896" y="4800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ΔV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480664" y="347472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16294F"/>
          </a:solidFill>
          <a:ln/>
        </p:spPr>
      </p:sp>
      <p:sp>
        <p:nvSpPr>
          <p:cNvPr id="34" name="Shape 31"/>
          <p:cNvSpPr/>
          <p:nvPr/>
        </p:nvSpPr>
        <p:spPr>
          <a:xfrm>
            <a:off x="4481932" y="3675888"/>
            <a:ext cx="512064" cy="512064"/>
          </a:xfrm>
          <a:prstGeom prst="ellipse">
            <a:avLst/>
          </a:prstGeom>
          <a:solidFill>
            <a:srgbClr val="0B1B3A"/>
          </a:solidFill>
          <a:ln/>
        </p:spPr>
      </p:sp>
      <p:pic>
        <p:nvPicPr>
          <p:cNvPr id="35" name="Image 1" descr="icons_clock_4FC3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146" y="3791102"/>
            <a:ext cx="281635" cy="281635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480664" y="4343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52.80 hr</a:t>
            </a:r>
            <a:endParaRPr lang="en-US" sz="2000" dirty="0"/>
          </a:p>
        </p:txBody>
      </p:sp>
      <p:sp>
        <p:nvSpPr>
          <p:cNvPr id="37" name="Text 33"/>
          <p:cNvSpPr/>
          <p:nvPr/>
        </p:nvSpPr>
        <p:spPr>
          <a:xfrm>
            <a:off x="3480664" y="4800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Time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6196432" y="347472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16294F"/>
          </a:solidFill>
          <a:ln/>
        </p:spPr>
      </p:sp>
      <p:sp>
        <p:nvSpPr>
          <p:cNvPr id="39" name="Shape 35"/>
          <p:cNvSpPr/>
          <p:nvPr/>
        </p:nvSpPr>
        <p:spPr>
          <a:xfrm>
            <a:off x="7197700" y="3675888"/>
            <a:ext cx="512064" cy="512064"/>
          </a:xfrm>
          <a:prstGeom prst="ellipse">
            <a:avLst/>
          </a:prstGeom>
          <a:solidFill>
            <a:srgbClr val="0B1B3A"/>
          </a:solidFill>
          <a:ln/>
        </p:spPr>
      </p:sp>
      <p:pic>
        <p:nvPicPr>
          <p:cNvPr id="40" name="Image 2" descr="icons_dollar_4FC3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914" y="3791102"/>
            <a:ext cx="281635" cy="281635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196432" y="4343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$264,000</a:t>
            </a:r>
            <a:endParaRPr lang="en-US" sz="2000" dirty="0"/>
          </a:p>
        </p:txBody>
      </p:sp>
      <p:sp>
        <p:nvSpPr>
          <p:cNvPr id="42" name="Text 37"/>
          <p:cNvSpPr/>
          <p:nvPr/>
        </p:nvSpPr>
        <p:spPr>
          <a:xfrm>
            <a:off x="6196432" y="4800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8912200" y="347472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16294F"/>
          </a:solidFill>
          <a:ln/>
        </p:spPr>
      </p:sp>
      <p:sp>
        <p:nvSpPr>
          <p:cNvPr id="44" name="Shape 39"/>
          <p:cNvSpPr/>
          <p:nvPr/>
        </p:nvSpPr>
        <p:spPr>
          <a:xfrm>
            <a:off x="9913468" y="3675888"/>
            <a:ext cx="512064" cy="512064"/>
          </a:xfrm>
          <a:prstGeom prst="ellipse">
            <a:avLst/>
          </a:prstGeom>
          <a:solidFill>
            <a:srgbClr val="0B1B3A"/>
          </a:solidFill>
          <a:ln/>
        </p:spPr>
      </p:sp>
      <p:pic>
        <p:nvPicPr>
          <p:cNvPr id="45" name="Image 3" descr="icons_warning_4FC3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8682" y="3791102"/>
            <a:ext cx="281635" cy="281635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912200" y="4343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6.64</a:t>
            </a:r>
            <a:endParaRPr lang="en-US" sz="2000" dirty="0"/>
          </a:p>
        </p:txBody>
      </p:sp>
      <p:sp>
        <p:nvSpPr>
          <p:cNvPr id="47" name="Text 41"/>
          <p:cNvSpPr/>
          <p:nvPr/>
        </p:nvSpPr>
        <p:spPr>
          <a:xfrm>
            <a:off x="8912200" y="4800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Removed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4632808" y="548640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1E4B3A"/>
          </a:solidFill>
          <a:ln/>
        </p:spPr>
      </p:sp>
      <p:sp>
        <p:nvSpPr>
          <p:cNvPr id="49" name="Shape 43"/>
          <p:cNvSpPr/>
          <p:nvPr/>
        </p:nvSpPr>
        <p:spPr>
          <a:xfrm>
            <a:off x="4742536" y="5568696"/>
            <a:ext cx="338328" cy="338328"/>
          </a:xfrm>
          <a:prstGeom prst="ellipse">
            <a:avLst/>
          </a:prstGeom>
          <a:solidFill>
            <a:srgbClr val="245C46"/>
          </a:solidFill>
          <a:ln/>
        </p:spPr>
      </p:sp>
      <p:pic>
        <p:nvPicPr>
          <p:cNvPr id="50" name="Image 4" descr="icons_check_58E0A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743" y="5627903"/>
            <a:ext cx="219913" cy="219913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5135728" y="5486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F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Constraint Satisfied</a:t>
            </a:r>
            <a:endParaRPr lang="en-US" sz="1200" dirty="0"/>
          </a:p>
        </p:txBody>
      </p:sp>
      <p:sp>
        <p:nvSpPr>
          <p:cNvPr id="52" name="Text 4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ASDR  ·  Simulated Annealing Optimization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objective improves over iterations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drops sharply while temperature is high — the search explores broadly and accepts many worse moves — then settles into a stable near-optimal value as cooling progresses.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286000"/>
          <a:ext cx="7315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228600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5F7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2514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curve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412480" y="3063240"/>
            <a:ext cx="128016" cy="128016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8641080" y="29443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41080" y="321868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exploration, frequent uphill moves accepted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12480" y="3931920"/>
            <a:ext cx="128016" cy="128016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9"/>
          <p:cNvSpPr/>
          <p:nvPr/>
        </p:nvSpPr>
        <p:spPr>
          <a:xfrm>
            <a:off x="8641080" y="38130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41080" y="40873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of worse moves tapers off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12480" y="4800600"/>
            <a:ext cx="128016" cy="128016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5" name="Text 12"/>
          <p:cNvSpPr/>
          <p:nvPr/>
        </p:nvSpPr>
        <p:spPr>
          <a:xfrm>
            <a:off x="8641080" y="46817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41080" y="4956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converges near the optimum and stabilizes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ASDR  ·  Simulated Annealing Optimization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assumptions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Simplifications made today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395728"/>
            <a:ext cx="91440" cy="91440"/>
          </a:xfrm>
          <a:prstGeom prst="ellipse">
            <a:avLst/>
          </a:prstGeom>
          <a:solidFill>
            <a:srgbClr val="0B1B3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7685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 estimated from altitude &amp; inclination differences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962656"/>
            <a:ext cx="91440" cy="91440"/>
          </a:xfrm>
          <a:prstGeom prst="ellipse">
            <a:avLst/>
          </a:prstGeom>
          <a:solidFill>
            <a:srgbClr val="0B1B3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84378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mission time model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529584"/>
            <a:ext cx="91440" cy="91440"/>
          </a:xfrm>
          <a:prstGeom prst="ellipse">
            <a:avLst/>
          </a:prstGeom>
          <a:solidFill>
            <a:srgbClr val="0B1B3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41071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Single-spacecraft mission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096512"/>
            <a:ext cx="91440" cy="91440"/>
          </a:xfrm>
          <a:prstGeom prst="ellipse">
            <a:avLst/>
          </a:prstGeom>
          <a:solidFill>
            <a:srgbClr val="0B1B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9776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weighted objective function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663440"/>
            <a:ext cx="91440" cy="91440"/>
          </a:xfrm>
          <a:prstGeom prst="ellipse">
            <a:avLst/>
          </a:prstGeom>
          <a:solidFill>
            <a:srgbClr val="0B1B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54456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debris positions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230368"/>
            <a:ext cx="91440" cy="91440"/>
          </a:xfrm>
          <a:prstGeom prst="ellipse">
            <a:avLst/>
          </a:prstGeom>
          <a:solidFill>
            <a:srgbClr val="0B1B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11149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atmospheric drag or perturbations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169164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0B1B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2331720"/>
            <a:ext cx="292608" cy="292608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21" name="Image 0" descr="icons_check_58E0A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5042" y="2390242"/>
            <a:ext cx="175565" cy="17556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858000" y="23134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orbital elements (Keplerian / TLE)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46520" y="2834640"/>
            <a:ext cx="292608" cy="292608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24" name="Image 1" descr="icons_check_58E0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042" y="2893162"/>
            <a:ext cx="175565" cy="17556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858000" y="28163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Hohmann &amp; Lambert transfer calculations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446520" y="3337560"/>
            <a:ext cx="292608" cy="292608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27" name="Image 2" descr="icons_check_58E0A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042" y="3396082"/>
            <a:ext cx="175565" cy="17556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58000" y="33192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Orekit or Poliastro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446520" y="3840480"/>
            <a:ext cx="292608" cy="292608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30" name="Image 3" descr="icons_check_58E0A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042" y="3899002"/>
            <a:ext cx="175565" cy="17556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58000" y="3822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Multi-spacecraft mission planning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446520" y="4343400"/>
            <a:ext cx="292608" cy="292608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33" name="Image 4" descr="icons_check_58E0A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042" y="4401922"/>
            <a:ext cx="175565" cy="17556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858000" y="43251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Colony Optimization &amp; PSO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6446520" y="4846320"/>
            <a:ext cx="292608" cy="292608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36" name="Image 5" descr="icons_check_58E0A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042" y="4904842"/>
            <a:ext cx="175565" cy="17556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858000" y="4828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multi-objective optimization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6446520" y="5349240"/>
            <a:ext cx="292608" cy="292608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39" name="Image 6" descr="icons_check_58E0A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042" y="5407762"/>
            <a:ext cx="175565" cy="17556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858000" y="53309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ESA DISCOS / Space-Track catalogs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ASDR  ·  Simulated Annealing Optimization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92024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45720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5" name="Shape 3"/>
          <p:cNvSpPr/>
          <p:nvPr/>
        </p:nvSpPr>
        <p:spPr>
          <a:xfrm>
            <a:off x="3017520" y="146304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0" y="54864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164592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292608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9" name="Shape 7"/>
          <p:cNvSpPr/>
          <p:nvPr/>
        </p:nvSpPr>
        <p:spPr>
          <a:xfrm>
            <a:off x="9966960" y="82296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0" y="438912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475488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2377440" y="585216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0" y="603504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21440" y="566928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20624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0" y="5394960"/>
            <a:ext cx="41148" cy="41148"/>
          </a:xfrm>
          <a:prstGeom prst="ellipse">
            <a:avLst/>
          </a:prstGeom>
          <a:solidFill>
            <a:srgbClr val="4FC3E8"/>
          </a:solidFill>
          <a:ln/>
        </p:spPr>
      </p:sp>
      <p:sp>
        <p:nvSpPr>
          <p:cNvPr id="17" name="Shape 15"/>
          <p:cNvSpPr/>
          <p:nvPr/>
        </p:nvSpPr>
        <p:spPr>
          <a:xfrm>
            <a:off x="5638648" y="1828800"/>
            <a:ext cx="914400" cy="914400"/>
          </a:xfrm>
          <a:prstGeom prst="ellipse">
            <a:avLst/>
          </a:prstGeom>
          <a:solidFill>
            <a:srgbClr val="16294F"/>
          </a:solidFill>
          <a:ln/>
        </p:spPr>
      </p:sp>
      <p:pic>
        <p:nvPicPr>
          <p:cNvPr id="18" name="Image 0" descr="icons_satellite_4FC3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4388" y="2034540"/>
            <a:ext cx="502920" cy="5029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71600" y="297180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simplified model to mission-ready planner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2103120" y="361188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transfer model + weighted objective + Simulated Annealing already demonstrates the OR workflow — ready to be extended with real astrodynamics libraries and multi-objective search.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90008" y="4526280"/>
            <a:ext cx="2011680" cy="0"/>
          </a:xfrm>
          <a:prstGeom prst="line">
            <a:avLst/>
          </a:prstGeom>
          <a:noFill/>
          <a:ln w="31750">
            <a:solidFill>
              <a:srgbClr val="FF7A4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71600" y="47548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Kirkpatrick, Gelatt &amp; Vecchi (1983)  ·  Talbi (2009)  ·  NASA ODPO  ·  ESA Space Debris Office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371600" y="60350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educational, academic, and research purposes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2026-07-26T02:49:27Z</dcterms:created>
  <dcterms:modified xsi:type="dcterms:W3CDTF">2026-07-26T02:49:27Z</dcterms:modified>
</cp:coreProperties>
</file>